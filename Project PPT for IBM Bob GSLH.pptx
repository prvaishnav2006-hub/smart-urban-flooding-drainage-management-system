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4"/>
  </p:notesMasterIdLst>
  <p:sldIdLst>
    <p:sldId id="319" r:id="rId2"/>
    <p:sldId id="291" r:id="rId3"/>
    <p:sldId id="292" r:id="rId4"/>
    <p:sldId id="293" r:id="rId5"/>
    <p:sldId id="294" r:id="rId6"/>
    <p:sldId id="295" r:id="rId7"/>
    <p:sldId id="296" r:id="rId8"/>
    <p:sldId id="310" r:id="rId9"/>
    <p:sldId id="311" r:id="rId10"/>
    <p:sldId id="312" r:id="rId11"/>
    <p:sldId id="313" r:id="rId12"/>
    <p:sldId id="316" r:id="rId13"/>
    <p:sldId id="299" r:id="rId14"/>
    <p:sldId id="301" r:id="rId15"/>
    <p:sldId id="302" r:id="rId16"/>
    <p:sldId id="303" r:id="rId17"/>
    <p:sldId id="304" r:id="rId18"/>
    <p:sldId id="315" r:id="rId19"/>
    <p:sldId id="305" r:id="rId20"/>
    <p:sldId id="314" r:id="rId21"/>
    <p:sldId id="308" r:id="rId22"/>
    <p:sldId id="309" r:id="rId2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8" roundtripDataSignature="AMtx7mjt3491jQ7aCoyIz2WXeHKroE7t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AD8F4D-43EB-41E5-8A38-28AB6DFB1B60}">
  <a:tblStyle styleId="{0AAD8F4D-43EB-41E5-8A38-28AB6DFB1B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624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35823440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4223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xmlns="" id="{48C2B95B-FB15-C156-6AF1-35B358181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xmlns="" id="{770A13E9-BC77-63DA-E106-A3FA802281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xmlns="" id="{29067B0F-2F4F-7081-A661-0AE31BFBB7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55410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xmlns="" id="{E37D20EF-0791-5303-F96E-0F0C1B50B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>
            <a:extLst>
              <a:ext uri="{FF2B5EF4-FFF2-40B4-BE49-F238E27FC236}">
                <a16:creationId xmlns:a16="http://schemas.microsoft.com/office/drawing/2014/main" xmlns="" id="{9DCBA8EB-6D71-7B5E-841C-4BFFBDA5F1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>
            <a:extLst>
              <a:ext uri="{FF2B5EF4-FFF2-40B4-BE49-F238E27FC236}">
                <a16:creationId xmlns:a16="http://schemas.microsoft.com/office/drawing/2014/main" xmlns="" id="{5C2CD162-5BE5-06C8-E06C-B4A49D4BCF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13540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xmlns="" id="{11626E4B-E119-2382-6F8F-518641144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xmlns="" id="{01A6FF9F-971F-6CD8-61F5-25638A5985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xmlns="" id="{C8EB5C80-6A4B-AE05-9BE0-03B5AF5C22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2736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>
          <a:extLst>
            <a:ext uri="{FF2B5EF4-FFF2-40B4-BE49-F238E27FC236}">
              <a16:creationId xmlns:a16="http://schemas.microsoft.com/office/drawing/2014/main" xmlns="" id="{59B870D7-ED5B-C7CD-FB99-2991954CA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>
            <a:extLst>
              <a:ext uri="{FF2B5EF4-FFF2-40B4-BE49-F238E27FC236}">
                <a16:creationId xmlns:a16="http://schemas.microsoft.com/office/drawing/2014/main" xmlns="" id="{C8B270BB-F67C-52E3-249C-6FE0C237CA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>
            <a:extLst>
              <a:ext uri="{FF2B5EF4-FFF2-40B4-BE49-F238E27FC236}">
                <a16:creationId xmlns:a16="http://schemas.microsoft.com/office/drawing/2014/main" xmlns="" id="{151B863E-6240-36E9-EB23-2DAA667D2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98578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279463AA-D7FA-5F7E-C4D0-06BDEDCBB9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A84E3171-2C5C-8738-5718-5608CE1B13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E16E406D-2512-5EF2-0167-6C895346954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349666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9E1C0F14-DBDF-585A-E882-E2BF9647A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7E6D42C4-06DC-AB21-7112-CEF37FBD57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954B99EC-4B17-0504-2C36-7D6C91B3C0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90418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27D158B3-CBD8-B5E4-6B76-365327AB8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010A094C-68D7-7C06-1676-FE4856468B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9E3ED5FD-8C53-1F8E-D724-51F89F8FBB0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210758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9508F664-A613-C49E-6808-FC67C002D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C7AA89D1-36B1-C3BD-0BE6-28C6BBF7E4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EC720C9B-1798-C39A-D4BB-62F3C60E86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306321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E1412E85-19BE-A4D2-3A42-8118C838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C19DA990-6141-A1FE-8846-7567C53993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78ED0245-E9EA-4854-4BC6-4C85ED3850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8948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>
          <a:extLst>
            <a:ext uri="{FF2B5EF4-FFF2-40B4-BE49-F238E27FC236}">
              <a16:creationId xmlns:a16="http://schemas.microsoft.com/office/drawing/2014/main" xmlns="" id="{1010730D-B05E-5843-B75E-442772C5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7:notes">
            <a:extLst>
              <a:ext uri="{FF2B5EF4-FFF2-40B4-BE49-F238E27FC236}">
                <a16:creationId xmlns:a16="http://schemas.microsoft.com/office/drawing/2014/main" xmlns="" id="{3B1B9E69-D5B7-1EDE-695B-8A72F215E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7:notes">
            <a:extLst>
              <a:ext uri="{FF2B5EF4-FFF2-40B4-BE49-F238E27FC236}">
                <a16:creationId xmlns:a16="http://schemas.microsoft.com/office/drawing/2014/main" xmlns="" id="{C97573FA-7DA9-832E-211C-9E472EC40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64743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768224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8E9CB32A-B328-07DF-4F33-E0118C92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xmlns="" id="{8BD392DC-EA03-14B5-7A53-AC36124B4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xmlns="" id="{F90BE8D5-07EC-73D0-0A62-4778024FF0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42077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4F18774C-544B-0071-4FA9-86D0ADEC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xmlns="" id="{68645894-EE59-A5F4-D411-C82EB564E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xmlns="" id="{FEE489F0-0910-6D8B-0254-C25DB0882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7358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BB47F127-39C9-4CE0-52A6-66BD53AE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xmlns="" id="{57CB72F8-8B0E-1466-D091-917F3E7559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xmlns="" id="{1CEA3A31-DD75-5F0D-19FB-8192F5E7F9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58712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xmlns="" id="{C2F88CF5-D0C3-0228-6C1A-E849738B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>
            <a:extLst>
              <a:ext uri="{FF2B5EF4-FFF2-40B4-BE49-F238E27FC236}">
                <a16:creationId xmlns:a16="http://schemas.microsoft.com/office/drawing/2014/main" xmlns="" id="{15C41DBA-EB5E-9EB1-28D2-68EF3081A2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>
            <a:extLst>
              <a:ext uri="{FF2B5EF4-FFF2-40B4-BE49-F238E27FC236}">
                <a16:creationId xmlns:a16="http://schemas.microsoft.com/office/drawing/2014/main" xmlns="" id="{9AACA92E-BC74-25E5-B8D5-2E658F81C2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75871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F99EC48D-986D-5759-BB30-643EB8E6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xmlns="" id="{18B9E3A1-6FB8-9155-61D2-ACE1911D3D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xmlns="" id="{A030ED18-5AAE-8953-2668-AE98C5E83A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872732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>
          <a:extLst>
            <a:ext uri="{FF2B5EF4-FFF2-40B4-BE49-F238E27FC236}">
              <a16:creationId xmlns:a16="http://schemas.microsoft.com/office/drawing/2014/main" xmlns="" id="{A795C14E-5D6A-39A3-2018-2C72BB451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8:notes">
            <a:extLst>
              <a:ext uri="{FF2B5EF4-FFF2-40B4-BE49-F238E27FC236}">
                <a16:creationId xmlns:a16="http://schemas.microsoft.com/office/drawing/2014/main" xmlns="" id="{85B8BB2F-0927-3841-AC64-CC67B50358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18:notes">
            <a:extLst>
              <a:ext uri="{FF2B5EF4-FFF2-40B4-BE49-F238E27FC236}">
                <a16:creationId xmlns:a16="http://schemas.microsoft.com/office/drawing/2014/main" xmlns="" id="{58797E72-A3BC-0A49-07C4-DE7FDA7523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20786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85111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AF97BF8-B3EC-77A2-9BFD-D66830272D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234725"/>
            <a:ext cx="10515600" cy="2852737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/>
              <a:t>IBM </a:t>
            </a:r>
            <a:r>
              <a:rPr lang="en-US" sz="3200" b="1" dirty="0" err="1"/>
              <a:t>SkillsBuild</a:t>
            </a:r>
            <a:r>
              <a:rPr lang="en-US" sz="3200" b="1" dirty="0"/>
              <a:t> Bob Hackathon Showcase – Gujarat, 2026 </a:t>
            </a:r>
            <a:br>
              <a:rPr lang="en-US" sz="3200" b="1" dirty="0"/>
            </a:br>
            <a:r>
              <a:rPr lang="en-US" sz="3200" b="1" dirty="0"/>
              <a:t/>
            </a:r>
            <a:br>
              <a:rPr lang="en-US" sz="3200" b="1" dirty="0"/>
            </a:br>
            <a:r>
              <a:rPr lang="en-US" sz="3200" b="1" dirty="0"/>
              <a:t/>
            </a:r>
            <a:br>
              <a:rPr lang="en-US" sz="3200" b="1" dirty="0"/>
            </a:br>
            <a:r>
              <a:rPr lang="en-US" sz="3200" b="1" dirty="0"/>
              <a:t/>
            </a:r>
            <a:br>
              <a:rPr lang="en-US" sz="3200" b="1" dirty="0"/>
            </a:br>
            <a:endParaRPr lang="en-US" sz="3200" b="1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FFAB85A1-2169-FF43-3E91-E2E8ADA742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771" y="2816802"/>
            <a:ext cx="10515600" cy="1500187"/>
          </a:xfrm>
        </p:spPr>
        <p:txBody>
          <a:bodyPr/>
          <a:lstStyle/>
          <a:p>
            <a:pPr algn="ctr"/>
            <a:r>
              <a:rPr lang="en-US" b="1" i="1" dirty="0"/>
              <a:t>“Exploring the Power of Agentic AI with IBM Granite and IBM Bob”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3873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"/>
          <p:cNvSpPr/>
          <p:nvPr/>
        </p:nvSpPr>
        <p:spPr>
          <a:xfrm>
            <a:off x="690624" y="4425370"/>
            <a:ext cx="10795794" cy="1992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endParaRPr sz="1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2"/>
          <p:cNvSpPr txBox="1"/>
          <p:nvPr/>
        </p:nvSpPr>
        <p:spPr>
          <a:xfrm>
            <a:off x="1102321" y="1174639"/>
            <a:ext cx="7426406" cy="4515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3200"/>
              <a:buFont typeface="Times New Roman"/>
              <a:buNone/>
            </a:pPr>
            <a:endParaRPr sz="3200" b="1" i="0" u="none" strike="noStrike" cap="none">
              <a:solidFill>
                <a:srgbClr val="00206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96" name="Google Shape;96;p2"/>
          <p:cNvGraphicFramePr/>
          <p:nvPr>
            <p:extLst>
              <p:ext uri="{D42A27DB-BD31-4B8C-83A1-F6EECF244321}">
                <p14:modId xmlns:p14="http://schemas.microsoft.com/office/powerpoint/2010/main" val="3856256092"/>
              </p:ext>
            </p:extLst>
          </p:nvPr>
        </p:nvGraphicFramePr>
        <p:xfrm>
          <a:off x="1299257" y="2117245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err="1" smtClean="0"/>
                        <a:t>Vaishnav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Payal</a:t>
                      </a:r>
                      <a:r>
                        <a:rPr lang="en-US" dirty="0" smtClean="0"/>
                        <a:t> </a:t>
                      </a:r>
                      <a:r>
                        <a:rPr lang="en-US" dirty="0" err="1" smtClean="0"/>
                        <a:t>Radheshyam</a:t>
                      </a:r>
                      <a:endParaRPr lang="en-US" dirty="0" smtClean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smtClean="0"/>
                        <a:t>prvaishnav2006@gmail.com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 smtClean="0"/>
                        <a:t>8238665128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A828B9EF-C084-F5D4-CA27-75AF7D995640}"/>
              </a:ext>
            </a:extLst>
          </p:cNvPr>
          <p:cNvSpPr txBox="1"/>
          <p:nvPr/>
        </p:nvSpPr>
        <p:spPr>
          <a:xfrm>
            <a:off x="1206164" y="1460724"/>
            <a:ext cx="102802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Domain of  Project </a:t>
            </a:r>
            <a:r>
              <a:rPr lang="en-US" sz="2800" b="1" dirty="0" smtClean="0"/>
              <a:t>– Urban Infrastructure</a:t>
            </a:r>
            <a:endParaRPr lang="en-IN" sz="2800" b="1" dirty="0">
              <a:highlight>
                <a:srgbClr val="FFFF00"/>
              </a:highlight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3D723CA3-EC2D-165A-F109-3759C4E9C8A4}"/>
              </a:ext>
            </a:extLst>
          </p:cNvPr>
          <p:cNvSpPr txBox="1"/>
          <p:nvPr/>
        </p:nvSpPr>
        <p:spPr>
          <a:xfrm>
            <a:off x="1206162" y="551965"/>
            <a:ext cx="1055164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Project Tile – Smart Urban Flooding &amp; Drainage Management System for Ahmedabad - </a:t>
            </a:r>
            <a:r>
              <a:rPr lang="en-US" sz="2800" b="1" dirty="0" smtClean="0"/>
              <a:t>Surat</a:t>
            </a:r>
            <a:endParaRPr lang="en-IN" sz="2800" b="1" dirty="0">
              <a:highlight>
                <a:srgbClr val="FFFF00"/>
              </a:highlight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2754" y="3143417"/>
            <a:ext cx="851260" cy="107094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9" name="Google Shape;96;p2"/>
          <p:cNvGraphicFramePr/>
          <p:nvPr>
            <p:extLst>
              <p:ext uri="{D42A27DB-BD31-4B8C-83A1-F6EECF244321}">
                <p14:modId xmlns:p14="http://schemas.microsoft.com/office/powerpoint/2010/main" val="1776220998"/>
              </p:ext>
            </p:extLst>
          </p:nvPr>
        </p:nvGraphicFramePr>
        <p:xfrm>
          <a:off x="1314715" y="4357229"/>
          <a:ext cx="9394989" cy="2167128"/>
        </p:xfrm>
        <a:graphic>
          <a:graphicData uri="http://schemas.openxmlformats.org/drawingml/2006/table">
            <a:tbl>
              <a:tblPr>
                <a:noFill/>
                <a:tableStyleId>{0AAD8F4D-43EB-41E5-8A38-28AB6DFB1B60}</a:tableStyleId>
              </a:tblPr>
              <a:tblGrid>
                <a:gridCol w="2064867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3"/>
                    </a:ext>
                  </a:extLst>
                </a:gridCol>
                <a:gridCol w="2443374">
                  <a:extLst>
                    <a:ext uri="{9D8B030D-6E8A-4147-A177-3AD203B41FA5}">
                      <a16:colId xmlns:a16="http://schemas.microsoft.com/office/drawing/2014/main" xmlns="" val="20004"/>
                    </a:ext>
                  </a:extLst>
                </a:gridCol>
              </a:tblGrid>
              <a:tr h="973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 dirty="0"/>
                        <a:t>Student Name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strike="noStrike" cap="none"/>
                        <a:t>Recent Passport Photo</a:t>
                      </a:r>
                      <a:endParaRPr sz="1800" u="none" strike="noStrike" cap="none"/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Email ID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Mobile number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Calibri"/>
                          <a:cs typeface="Arial"/>
                          <a:sym typeface="Calibri"/>
                        </a:rPr>
                        <a:t>[WhatsApp] </a:t>
                      </a:r>
                      <a:endParaRPr sz="1800" b="0" i="0" u="none" strike="noStrike" cap="none">
                        <a:solidFill>
                          <a:srgbClr val="000000"/>
                        </a:solidFill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5B9B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1938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err="1" smtClean="0"/>
                        <a:t>Faldu</a:t>
                      </a:r>
                      <a:r>
                        <a:rPr lang="en-US" sz="1400" dirty="0" smtClean="0"/>
                        <a:t> </a:t>
                      </a:r>
                      <a:r>
                        <a:rPr lang="en-US" sz="1400" dirty="0" err="1" smtClean="0"/>
                        <a:t>Bansi</a:t>
                      </a:r>
                      <a:r>
                        <a:rPr lang="en-US" sz="1400" dirty="0" smtClean="0"/>
                        <a:t> </a:t>
                      </a:r>
                      <a:r>
                        <a:rPr lang="en-US" sz="1400" dirty="0" err="1" smtClean="0"/>
                        <a:t>Kishorkumar</a:t>
                      </a:r>
                      <a:endParaRPr lang="en-US" sz="1400" dirty="0" smtClean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dirty="0"/>
                    </a:p>
                  </a:txBody>
                  <a:tcPr marL="91450" marR="91450" marT="45725" marB="45725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dirty="0" smtClean="0"/>
                        <a:t>bansifaldu14@gmail.com</a:t>
                      </a:r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smtClean="0"/>
                        <a:t>9726976917</a:t>
                      </a:r>
                      <a:endParaRPr lang="en-US" dirty="0" smtClean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91450" marR="91450" marT="45725" marB="45725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0D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</a:tbl>
          </a:graphicData>
        </a:graphic>
      </p:graphicFrame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006" y="5384465"/>
            <a:ext cx="819806" cy="109307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523178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xmlns="" id="{F4C0A7C6-2888-EA53-35AB-4072E6B1FD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C6F6745E-14BA-0766-CE1E-32E29663832D}"/>
              </a:ext>
            </a:extLst>
          </p:cNvPr>
          <p:cNvSpPr txBox="1"/>
          <p:nvPr/>
        </p:nvSpPr>
        <p:spPr>
          <a:xfrm>
            <a:off x="576072" y="1044668"/>
            <a:ext cx="11414645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en-US" sz="2000" b="1" dirty="0" smtClean="0"/>
              <a:t>The </a:t>
            </a:r>
            <a:r>
              <a:rPr lang="en-US" sz="2000" b="1" dirty="0"/>
              <a:t>Challenge</a:t>
            </a:r>
            <a:r>
              <a:rPr lang="en-US" sz="2000" dirty="0"/>
              <a:t> </a:t>
            </a:r>
          </a:p>
          <a:p>
            <a:pPr fontAlgn="base"/>
            <a:r>
              <a:rPr lang="en-US" sz="2000" dirty="0"/>
              <a:t>Rapid urbanization in cities like Ahmedabad and Surat has outpaced </a:t>
            </a:r>
            <a:r>
              <a:rPr lang="en-US" sz="2000" dirty="0" smtClean="0"/>
              <a:t>storm water drainage infrastructure</a:t>
            </a:r>
            <a:r>
              <a:rPr lang="en-US" sz="2000" dirty="0"/>
              <a:t>, causing frequent monsoon flooding, traffic disruption, and property </a:t>
            </a:r>
            <a:r>
              <a:rPr lang="en-US" sz="2000" dirty="0" smtClean="0"/>
              <a:t>damage due </a:t>
            </a:r>
            <a:r>
              <a:rPr lang="en-US" sz="2000" dirty="0"/>
              <a:t>to poor predictive planning and delayed civic response. </a:t>
            </a:r>
          </a:p>
          <a:p>
            <a:pPr fontAlgn="base"/>
            <a:endParaRPr lang="en-US" sz="1000" dirty="0"/>
          </a:p>
          <a:p>
            <a:pPr fontAlgn="base"/>
            <a:r>
              <a:rPr lang="en-US" sz="2000" b="1" dirty="0"/>
              <a:t>The Objective</a:t>
            </a:r>
            <a:r>
              <a:rPr lang="en-US" sz="2000" dirty="0"/>
              <a:t> </a:t>
            </a:r>
            <a:endParaRPr lang="en-US" sz="2000" dirty="0" smtClean="0"/>
          </a:p>
          <a:p>
            <a:r>
              <a:rPr lang="en-US" sz="2000" dirty="0" smtClean="0"/>
              <a:t>The main objective of the </a:t>
            </a:r>
            <a:r>
              <a:rPr lang="en-US" sz="2000" b="1" dirty="0" smtClean="0"/>
              <a:t>Smart Urban Flooding &amp; Drainage Management System</a:t>
            </a:r>
            <a:r>
              <a:rPr lang="en-US" sz="2000" dirty="0" smtClean="0"/>
              <a:t> is to develop an </a:t>
            </a:r>
            <a:r>
              <a:rPr lang="en-US" sz="2000" b="1" dirty="0" smtClean="0"/>
              <a:t>AI-powered platform</a:t>
            </a:r>
            <a:r>
              <a:rPr lang="en-US" sz="2000" dirty="0" smtClean="0"/>
              <a:t> that helps cities like Ahmedabad and Surat </a:t>
            </a:r>
            <a:r>
              <a:rPr lang="en-US" sz="2000" b="1" dirty="0" smtClean="0"/>
              <a:t>predict, monitor, and manage urban flooding</a:t>
            </a:r>
            <a:r>
              <a:rPr lang="en-US" sz="2000" dirty="0" smtClean="0"/>
              <a:t> more effectively.</a:t>
            </a:r>
          </a:p>
          <a:p>
            <a:r>
              <a:rPr lang="en-US" sz="2000" dirty="0" smtClean="0"/>
              <a:t>The </a:t>
            </a:r>
            <a:r>
              <a:rPr lang="en-US" sz="2000" dirty="0"/>
              <a:t>system aims to: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Predict flood risks</a:t>
            </a:r>
            <a:r>
              <a:rPr lang="en-US" sz="2000" dirty="0"/>
              <a:t> using rainfall, drainage, and environmental data.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Monitor drainage conditions</a:t>
            </a:r>
            <a:r>
              <a:rPr lang="en-US" sz="2000" dirty="0"/>
              <a:t> and identify blocked or overloaded drains.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Provide real-time flood alerts</a:t>
            </a:r>
            <a:r>
              <a:rPr lang="en-US" sz="2000" dirty="0"/>
              <a:t> to citizens and municipal authorities.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Use AI-based analysis</a:t>
            </a:r>
            <a:r>
              <a:rPr lang="en-US" sz="2000" dirty="0"/>
              <a:t> to identify high-risk areas and support faster decision-making.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Improve emergency response</a:t>
            </a:r>
            <a:r>
              <a:rPr lang="en-US" sz="2000" dirty="0"/>
              <a:t> by helping authorities prioritize critical locations.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Reduce the impact of flooding</a:t>
            </a:r>
            <a:r>
              <a:rPr lang="en-US" sz="2000" dirty="0"/>
              <a:t> on people, traffic, property, and urban infrastructure. </a:t>
            </a:r>
            <a:endParaRPr lang="en-US" sz="2000" dirty="0" smtClean="0"/>
          </a:p>
          <a:p>
            <a:pPr marL="342900" indent="-342900">
              <a:buFont typeface="+mj-lt"/>
              <a:buAutoNum type="arabicPeriod"/>
            </a:pPr>
            <a:endParaRPr lang="en-US" sz="500" dirty="0"/>
          </a:p>
          <a:p>
            <a:pPr marL="342900" indent="-342900">
              <a:buFont typeface="+mj-lt"/>
              <a:buAutoNum type="arabicPeriod"/>
            </a:pPr>
            <a:r>
              <a:rPr lang="en-US" sz="2000" b="1" dirty="0"/>
              <a:t>Support better drainage planning</a:t>
            </a:r>
            <a:r>
              <a:rPr lang="en-US" sz="2000" dirty="0"/>
              <a:t> through historical and real-time data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847FA31-EA47-D27A-9D69-AF50A3080AEC}"/>
              </a:ext>
            </a:extLst>
          </p:cNvPr>
          <p:cNvSpPr txBox="1"/>
          <p:nvPr/>
        </p:nvSpPr>
        <p:spPr>
          <a:xfrm>
            <a:off x="576072" y="246902"/>
            <a:ext cx="112766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Problem Statement </a:t>
            </a:r>
            <a:r>
              <a:rPr lang="en-US" sz="2400" b="1" dirty="0" smtClean="0"/>
              <a:t>- </a:t>
            </a:r>
            <a:r>
              <a:rPr lang="en-IN" sz="2400" b="1" dirty="0"/>
              <a:t>Smart Urban Flooding &amp; Drainage Management System for Ahmedabad - Surat</a:t>
            </a:r>
            <a:r>
              <a:rPr lang="en-IN" sz="2400" dirty="0"/>
              <a:t> </a:t>
            </a:r>
            <a:br>
              <a:rPr lang="en-IN" sz="2400" dirty="0"/>
            </a:b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616533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>
          <a:extLst>
            <a:ext uri="{FF2B5EF4-FFF2-40B4-BE49-F238E27FC236}">
              <a16:creationId xmlns:a16="http://schemas.microsoft.com/office/drawing/2014/main" xmlns="" id="{0471B467-61AA-7BCA-460D-43041E805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4A1BF701-ABCA-4DF0-8330-B6AF71EF8E39}"/>
              </a:ext>
            </a:extLst>
          </p:cNvPr>
          <p:cNvSpPr txBox="1"/>
          <p:nvPr/>
        </p:nvSpPr>
        <p:spPr>
          <a:xfrm>
            <a:off x="576072" y="1166926"/>
            <a:ext cx="10607040" cy="56784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smtClean="0"/>
              <a:t>Develop </a:t>
            </a:r>
            <a:r>
              <a:rPr lang="en-US" sz="2000" dirty="0"/>
              <a:t>an </a:t>
            </a:r>
            <a:r>
              <a:rPr lang="en-US" sz="2000" b="1" dirty="0" err="1"/>
              <a:t>Agentic</a:t>
            </a:r>
            <a:r>
              <a:rPr lang="en-US" sz="2000" b="1" dirty="0"/>
              <a:t> AI-powered Smart Urban Flooding &amp; Drainage Management System</a:t>
            </a:r>
            <a:r>
              <a:rPr lang="en-US" sz="2000" dirty="0"/>
              <a:t> that integrates real-time weather data, </a:t>
            </a:r>
            <a:r>
              <a:rPr lang="en-US" sz="2000" dirty="0" err="1"/>
              <a:t>IoT</a:t>
            </a:r>
            <a:r>
              <a:rPr lang="en-US" sz="2000" dirty="0"/>
              <a:t> sensor data, historical flood records, and citizen reports to proactively manage urban flooding.</a:t>
            </a:r>
          </a:p>
          <a:p>
            <a:endParaRPr lang="en-US" b="1" dirty="0"/>
          </a:p>
          <a:p>
            <a:r>
              <a:rPr lang="en-US" sz="2000" b="1" dirty="0"/>
              <a:t>Key Capabilities</a:t>
            </a:r>
            <a:r>
              <a:rPr lang="en-US" sz="2000" b="1" dirty="0" smtClean="0"/>
              <a:t>:</a:t>
            </a:r>
          </a:p>
          <a:p>
            <a:endParaRPr lang="en-US" sz="5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Predict </a:t>
            </a:r>
            <a:r>
              <a:rPr lang="en-US" sz="2000" b="1" dirty="0"/>
              <a:t>Flood-Prone Areas</a:t>
            </a:r>
            <a:r>
              <a:rPr lang="en-US" sz="2000" dirty="0"/>
              <a:t> using AI and rainfall forecasting</a:t>
            </a:r>
            <a:r>
              <a:rPr lang="en-US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Optimize </a:t>
            </a:r>
            <a:r>
              <a:rPr lang="en-US" sz="2000" b="1" dirty="0"/>
              <a:t>Drainage Maintenance</a:t>
            </a:r>
            <a:r>
              <a:rPr lang="en-US" sz="2000" dirty="0"/>
              <a:t> by identifying drains likely to clog</a:t>
            </a:r>
            <a:r>
              <a:rPr lang="en-US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Coordinate </a:t>
            </a:r>
            <a:r>
              <a:rPr lang="en-US" sz="2000" b="1" dirty="0"/>
              <a:t>Real-Time Emergency Response</a:t>
            </a:r>
            <a:r>
              <a:rPr lang="en-US" sz="2000" dirty="0"/>
              <a:t> with alerts, evacuation routes, and resource allocation</a:t>
            </a:r>
            <a:r>
              <a:rPr lang="en-US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Enable </a:t>
            </a:r>
            <a:r>
              <a:rPr lang="en-US" sz="2000" b="1" dirty="0"/>
              <a:t>Citizen Flood Reporting</a:t>
            </a:r>
            <a:r>
              <a:rPr lang="en-US" sz="2000" dirty="0"/>
              <a:t> through location-based reports and images</a:t>
            </a:r>
            <a:r>
              <a:rPr lang="en-US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Provide </a:t>
            </a:r>
            <a:r>
              <a:rPr lang="en-US" sz="2000" b="1" dirty="0"/>
              <a:t>a Smart Dashboard</a:t>
            </a:r>
            <a:r>
              <a:rPr lang="en-US" sz="2000" dirty="0"/>
              <a:t> with live flood maps, drainage status, and AI insights</a:t>
            </a:r>
            <a:r>
              <a:rPr lang="en-US" sz="2000" dirty="0" smtClean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smtClean="0"/>
              <a:t>Assess </a:t>
            </a:r>
            <a:r>
              <a:rPr lang="en-US" sz="2000" b="1" dirty="0"/>
              <a:t>Post-Flood Damage</a:t>
            </a:r>
            <a:r>
              <a:rPr lang="en-US" sz="2000" dirty="0"/>
              <a:t> to support faster recovery and planning.</a:t>
            </a:r>
          </a:p>
          <a:p>
            <a:endParaRPr lang="en-US" b="1" dirty="0"/>
          </a:p>
          <a:p>
            <a:r>
              <a:rPr lang="en-US" sz="2000" b="1" dirty="0"/>
              <a:t>Outcome:</a:t>
            </a:r>
            <a:r>
              <a:rPr lang="en-US" sz="2000" dirty="0"/>
              <a:t> Reduce urban flooding, minimize property damage and traffic disruption, improve civic response time, and enhance the resilience of Ahmedabad and Surat using </a:t>
            </a:r>
            <a:r>
              <a:rPr lang="en-US" sz="2000" b="1" dirty="0"/>
              <a:t>IBM Granite LLM, IBM </a:t>
            </a:r>
            <a:r>
              <a:rPr lang="en-US" sz="2000" b="1" dirty="0" err="1"/>
              <a:t>watsonx</a:t>
            </a:r>
            <a:r>
              <a:rPr lang="en-US" sz="2000" b="1" dirty="0"/>
              <a:t> Bob, and IBM Cloud</a:t>
            </a:r>
            <a:r>
              <a:rPr lang="en-US" sz="2000" dirty="0"/>
              <a:t>.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527F30CC-07EF-8FCC-DA00-C9212F5DAECE}"/>
              </a:ext>
            </a:extLst>
          </p:cNvPr>
          <p:cNvSpPr txBox="1"/>
          <p:nvPr/>
        </p:nvSpPr>
        <p:spPr>
          <a:xfrm>
            <a:off x="576072" y="669584"/>
            <a:ext cx="7214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Proposed Solution -</a:t>
            </a:r>
            <a:endParaRPr lang="en-IN" sz="2800" b="1" dirty="0"/>
          </a:p>
        </p:txBody>
      </p:sp>
    </p:spTree>
    <p:extLst>
      <p:ext uri="{BB962C8B-B14F-4D97-AF65-F5344CB8AC3E}">
        <p14:creationId xmlns:p14="http://schemas.microsoft.com/office/powerpoint/2010/main" val="6194599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xmlns="" id="{7C2A09DE-0AE2-AA94-B2C1-84FDBDB9D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151FBD4A-3273-E454-091D-D5B0678FC299}"/>
              </a:ext>
            </a:extLst>
          </p:cNvPr>
          <p:cNvSpPr txBox="1"/>
          <p:nvPr/>
        </p:nvSpPr>
        <p:spPr>
          <a:xfrm>
            <a:off x="777240" y="484632"/>
            <a:ext cx="7123176" cy="52322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800" b="1" dirty="0"/>
              <a:t>Technology Used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4A7608B5-9906-EFCF-959A-E89FC2E3EE19}"/>
              </a:ext>
            </a:extLst>
          </p:cNvPr>
          <p:cNvSpPr txBox="1"/>
          <p:nvPr/>
        </p:nvSpPr>
        <p:spPr>
          <a:xfrm>
            <a:off x="777240" y="1189756"/>
            <a:ext cx="105156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IBM </a:t>
            </a:r>
            <a:r>
              <a:rPr 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watsonx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Bob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Rapid AI application development and project generation.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IBM Granite LLM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Powers intelligent AI agents, </a:t>
            </a:r>
            <a:r>
              <a:rPr lang="en-US" sz="2000" dirty="0" err="1">
                <a:solidFill>
                  <a:schemeClr val="tx1"/>
                </a:solidFill>
                <a:latin typeface="Arial" panose="020B0604020202020204" pitchFamily="34" charset="0"/>
              </a:rPr>
              <a:t>chatbot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, report summarization, and decision support.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IBM Cloud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Cloud hosting, data storage, APIs, and scalable deployment.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React.js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Responsive and interactive frontend dashboard.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Node.js &amp; Express.js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Backend APIs and application logic.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MongoDB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/ IBM </a:t>
            </a:r>
            <a:r>
              <a:rPr 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Cloudant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Stores flood reports, sensor data, and user information.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Leaflet.js / </a:t>
            </a:r>
            <a:r>
              <a:rPr 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Mapbox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Interactive maps for flood-prone zones and live monitoring.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endParaRPr lang="en-US" sz="10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ClrTx/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Weather API &amp; </a:t>
            </a:r>
            <a:r>
              <a:rPr lang="en-US" sz="2000" b="1" dirty="0" err="1">
                <a:solidFill>
                  <a:schemeClr val="tx1"/>
                </a:solidFill>
                <a:latin typeface="Arial" panose="020B0604020202020204" pitchFamily="34" charset="0"/>
              </a:rPr>
              <a:t>IoT</a:t>
            </a:r>
            <a:r>
              <a:rPr lang="en-US" sz="2000" b="1" dirty="0">
                <a:solidFill>
                  <a:schemeClr val="tx1"/>
                </a:solidFill>
                <a:latin typeface="Arial" panose="020B0604020202020204" pitchFamily="34" charset="0"/>
              </a:rPr>
              <a:t> Sensors</a:t>
            </a: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</a:rPr>
              <a:t> – Provides real-time rainfall, water-level, and environmental data for flood prediction</a:t>
            </a:r>
            <a:r>
              <a:rPr lang="en-US" sz="2000" dirty="0" smtClean="0">
                <a:solidFill>
                  <a:schemeClr val="tx1"/>
                </a:solidFill>
                <a:latin typeface="Arial" panose="020B0604020202020204" pitchFamily="34" charset="0"/>
              </a:rPr>
              <a:t>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43603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>
          <a:extLst>
            <a:ext uri="{FF2B5EF4-FFF2-40B4-BE49-F238E27FC236}">
              <a16:creationId xmlns:a16="http://schemas.microsoft.com/office/drawing/2014/main" xmlns="" id="{CDF2A78E-5A0E-6814-8AF4-0AE54B036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">
            <a:extLst>
              <a:ext uri="{FF2B5EF4-FFF2-40B4-BE49-F238E27FC236}">
                <a16:creationId xmlns:a16="http://schemas.microsoft.com/office/drawing/2014/main" xmlns="" id="{2A145802-2DD3-EEBA-7D44-210C05B98C91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400" b="1" dirty="0">
                <a:sym typeface="Times New Roman"/>
              </a:rPr>
              <a:t>Required Files created using IBM bob -</a:t>
            </a:r>
            <a:endParaRPr sz="2400" b="1" dirty="0">
              <a:sym typeface="Times New Roman"/>
            </a:endParaRPr>
          </a:p>
        </p:txBody>
      </p:sp>
      <p:sp>
        <p:nvSpPr>
          <p:cNvPr id="148" name="Google Shape;148;p5">
            <a:extLst>
              <a:ext uri="{FF2B5EF4-FFF2-40B4-BE49-F238E27FC236}">
                <a16:creationId xmlns:a16="http://schemas.microsoft.com/office/drawing/2014/main" xmlns="" id="{69E3EADC-1EAD-7419-145C-20998925206E}"/>
              </a:ext>
            </a:extLst>
          </p:cNvPr>
          <p:cNvSpPr/>
          <p:nvPr/>
        </p:nvSpPr>
        <p:spPr>
          <a:xfrm>
            <a:off x="2264331" y="6784578"/>
            <a:ext cx="2140744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9" name="Google Shape;149;p5">
            <a:extLst>
              <a:ext uri="{FF2B5EF4-FFF2-40B4-BE49-F238E27FC236}">
                <a16:creationId xmlns:a16="http://schemas.microsoft.com/office/drawing/2014/main" xmlns="" id="{04E5872A-C331-C8F3-5D71-8E953BAAFE03}"/>
              </a:ext>
            </a:extLst>
          </p:cNvPr>
          <p:cNvSpPr/>
          <p:nvPr/>
        </p:nvSpPr>
        <p:spPr>
          <a:xfrm>
            <a:off x="1782604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0" name="Google Shape;150;p5">
            <a:extLst>
              <a:ext uri="{FF2B5EF4-FFF2-40B4-BE49-F238E27FC236}">
                <a16:creationId xmlns:a16="http://schemas.microsoft.com/office/drawing/2014/main" xmlns="" id="{76EF3801-5D99-5EFA-9AA2-AD265775E354}"/>
              </a:ext>
            </a:extLst>
          </p:cNvPr>
          <p:cNvSpPr/>
          <p:nvPr/>
        </p:nvSpPr>
        <p:spPr>
          <a:xfrm>
            <a:off x="5732383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5">
            <a:extLst>
              <a:ext uri="{FF2B5EF4-FFF2-40B4-BE49-F238E27FC236}">
                <a16:creationId xmlns:a16="http://schemas.microsoft.com/office/drawing/2014/main" xmlns="" id="{DAD76A8A-9F2C-9EA9-25E9-40CD0FFAA869}"/>
              </a:ext>
            </a:extLst>
          </p:cNvPr>
          <p:cNvSpPr/>
          <p:nvPr/>
        </p:nvSpPr>
        <p:spPr>
          <a:xfrm>
            <a:off x="5077301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2" name="Google Shape;152;p5">
            <a:extLst>
              <a:ext uri="{FF2B5EF4-FFF2-40B4-BE49-F238E27FC236}">
                <a16:creationId xmlns:a16="http://schemas.microsoft.com/office/drawing/2014/main" xmlns="" id="{8D9C4260-2673-337C-C898-4C22E0F8FD65}"/>
              </a:ext>
            </a:extLst>
          </p:cNvPr>
          <p:cNvSpPr/>
          <p:nvPr/>
        </p:nvSpPr>
        <p:spPr>
          <a:xfrm>
            <a:off x="9027081" y="6784578"/>
            <a:ext cx="1793915" cy="22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9375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3" name="Google Shape;153;p5">
            <a:extLst>
              <a:ext uri="{FF2B5EF4-FFF2-40B4-BE49-F238E27FC236}">
                <a16:creationId xmlns:a16="http://schemas.microsoft.com/office/drawing/2014/main" xmlns="" id="{6167C3C6-3747-E373-84C3-3927C443B067}"/>
              </a:ext>
            </a:extLst>
          </p:cNvPr>
          <p:cNvSpPr/>
          <p:nvPr/>
        </p:nvSpPr>
        <p:spPr>
          <a:xfrm>
            <a:off x="8371999" y="7100213"/>
            <a:ext cx="3104198" cy="7318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875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endParaRPr sz="1600" b="0" i="0" u="none" strike="noStrike" cap="none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863187"/>
            <a:ext cx="10384986" cy="5630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963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CA6090C0-0478-84F9-6D20-717B6FEB7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B64CF172-D2AF-03D8-F919-AA7827A0D969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1066799"/>
            <a:ext cx="10149460" cy="5502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545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AF7A05F8-6C8B-A51B-B050-0E9212E8B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AAB01743-CD2D-F92D-BF92-DF9E50E45548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1038225"/>
            <a:ext cx="10244710" cy="5581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94880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EC248B62-90B0-31EF-B033-CE55CB376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99445627-361C-FF92-A0E9-D6EFBDBAF34E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1028700"/>
            <a:ext cx="10206610" cy="5533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9110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B39EB1CD-538A-7DBD-F4E9-052D9D7D4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E349D72E-AB17-BA23-03A8-4F38FE7B6316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" y="898747"/>
            <a:ext cx="10363200" cy="5624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470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43221D92-1044-08AB-7B31-E72C3F63D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28B03A33-D1CB-E189-2BFF-63C16430879F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952500"/>
            <a:ext cx="10422510" cy="5645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633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>
          <a:extLst>
            <a:ext uri="{FF2B5EF4-FFF2-40B4-BE49-F238E27FC236}">
              <a16:creationId xmlns:a16="http://schemas.microsoft.com/office/drawing/2014/main" xmlns="" id="{7F7BFD7F-A5BE-424E-04E4-955393FB4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35;p5">
            <a:extLst>
              <a:ext uri="{FF2B5EF4-FFF2-40B4-BE49-F238E27FC236}">
                <a16:creationId xmlns:a16="http://schemas.microsoft.com/office/drawing/2014/main" xmlns="" id="{84A94F7B-91E0-E5F0-4040-54299340996D}"/>
              </a:ext>
            </a:extLst>
          </p:cNvPr>
          <p:cNvSpPr/>
          <p:nvPr/>
        </p:nvSpPr>
        <p:spPr>
          <a:xfrm>
            <a:off x="537590" y="323239"/>
            <a:ext cx="5908929" cy="4485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35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b="1" i="0" u="none" strike="noStrike" cap="none">
                <a:solidFill>
                  <a:srgbClr val="051D3A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IBM Bob Screenshots: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590" y="976312"/>
            <a:ext cx="10511410" cy="5710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0071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6" name="Google Shape;196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1985" y="1167493"/>
            <a:ext cx="3015343" cy="45230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B84A7B44-8B20-5A39-ED43-DA98D0FC7976}"/>
              </a:ext>
            </a:extLst>
          </p:cNvPr>
          <p:cNvSpPr txBox="1"/>
          <p:nvPr/>
        </p:nvSpPr>
        <p:spPr>
          <a:xfrm>
            <a:off x="475488" y="283464"/>
            <a:ext cx="9317736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Role of </a:t>
            </a:r>
            <a:r>
              <a:rPr lang="en-US" sz="2800" b="1" dirty="0" err="1"/>
              <a:t>Agentic</a:t>
            </a:r>
            <a:r>
              <a:rPr lang="en-US" sz="2800" b="1" dirty="0"/>
              <a:t> AI in the solution Smart Urban Flooding &amp; Drainage Management System for Ahmedabad - Surat </a:t>
            </a:r>
          </a:p>
          <a:p>
            <a:r>
              <a:rPr lang="en-US" sz="2800" b="1" dirty="0" smtClean="0"/>
              <a:t> 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322462E8-EB3A-DA7D-44CB-4E757803A755}"/>
              </a:ext>
            </a:extLst>
          </p:cNvPr>
          <p:cNvSpPr txBox="1"/>
          <p:nvPr/>
        </p:nvSpPr>
        <p:spPr>
          <a:xfrm>
            <a:off x="475488" y="1736838"/>
            <a:ext cx="740664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 smtClean="0"/>
              <a:t>Agentic</a:t>
            </a:r>
            <a:r>
              <a:rPr lang="en-US" sz="2000" dirty="0" smtClean="0"/>
              <a:t> </a:t>
            </a:r>
            <a:r>
              <a:rPr lang="en-US" sz="2000" dirty="0"/>
              <a:t>AI acts as the intelligent decision-making core of the </a:t>
            </a:r>
            <a:r>
              <a:rPr lang="en-US" sz="2000" b="1" dirty="0"/>
              <a:t>Smart Urban Flooding &amp; Drainage Management System</a:t>
            </a:r>
            <a:r>
              <a:rPr lang="en-US" sz="2000" dirty="0"/>
              <a:t>. Instead of performing a single task, multiple AI agents work collaboratively to analyze real-time weather data, </a:t>
            </a:r>
            <a:r>
              <a:rPr lang="en-US" sz="2000" dirty="0" err="1"/>
              <a:t>IoT</a:t>
            </a:r>
            <a:r>
              <a:rPr lang="en-US" sz="2000" dirty="0"/>
              <a:t> sensor readings, historical flood records, and citizen reports. These agents predict flood-prone areas, prioritize drainage maintenance, coordinate emergency response, generate actionable insights, and assess post-flood damage. By continuously monitoring data and making autonomous recommendations, </a:t>
            </a:r>
            <a:r>
              <a:rPr lang="en-US" sz="2000" dirty="0" err="1"/>
              <a:t>Agentic</a:t>
            </a:r>
            <a:r>
              <a:rPr lang="en-US" sz="2000" dirty="0"/>
              <a:t> AI enables faster decision-making, proactive flood management, efficient resource allocation, and improved public safety for Ahmedabad and Surat.</a:t>
            </a:r>
          </a:p>
        </p:txBody>
      </p:sp>
    </p:spTree>
    <p:extLst>
      <p:ext uri="{BB962C8B-B14F-4D97-AF65-F5344CB8AC3E}">
        <p14:creationId xmlns:p14="http://schemas.microsoft.com/office/powerpoint/2010/main" val="40006969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1863F011-FD59-2782-3732-0E3263170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xmlns="" id="{78DA0257-5105-834D-150D-50732C7248D1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4" y="816977"/>
            <a:ext cx="10565590" cy="5871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9618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A1254DC3-8448-76A3-8631-9484D98C8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xmlns="" id="{A5DD5E73-E4F8-AB1C-5A5A-D4EBAD6FD1B8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4" y="671836"/>
            <a:ext cx="10746507" cy="5935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092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E3C4AEBB-2963-4EEE-D8ED-E3B5ABCF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xmlns="" id="{67AD5A0A-54A3-BC96-26BB-9C49B61555EC}"/>
              </a:ext>
            </a:extLst>
          </p:cNvPr>
          <p:cNvSpPr/>
          <p:nvPr/>
        </p:nvSpPr>
        <p:spPr>
          <a:xfrm>
            <a:off x="409144" y="112960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lnSpc>
                <a:spcPct val="157142"/>
              </a:lnSpc>
              <a:buClr>
                <a:srgbClr val="051D3A"/>
              </a:buClr>
              <a:buSzPts val="3500"/>
            </a:pPr>
            <a:r>
              <a:rPr lang="en-US" sz="2400" b="1">
                <a:sym typeface="Times New Roman"/>
              </a:rPr>
              <a:t> Project Output Screenshot</a:t>
            </a:r>
            <a:endParaRPr sz="2400" b="1">
              <a:sym typeface="Times New Roman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143" y="711199"/>
            <a:ext cx="10668432" cy="5907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1907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xmlns="" id="{EEDEC80F-FA4E-F3FF-DE90-87B861D0B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xmlns="" id="{6FA184BA-BCF2-3D7B-30D0-0F3CF30C161B}"/>
              </a:ext>
            </a:extLst>
          </p:cNvPr>
          <p:cNvSpPr txBox="1"/>
          <p:nvPr/>
        </p:nvSpPr>
        <p:spPr>
          <a:xfrm>
            <a:off x="511277" y="484632"/>
            <a:ext cx="7389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Novelty and Uniqueness</a:t>
            </a:r>
            <a:endParaRPr lang="en-IN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xmlns="" id="{ED65F54F-855A-0DB6-09A6-3212C5F7405B}"/>
              </a:ext>
            </a:extLst>
          </p:cNvPr>
          <p:cNvSpPr txBox="1"/>
          <p:nvPr/>
        </p:nvSpPr>
        <p:spPr>
          <a:xfrm>
            <a:off x="511277" y="1181128"/>
            <a:ext cx="11301984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err="1" smtClean="0"/>
              <a:t>Agentic</a:t>
            </a:r>
            <a:r>
              <a:rPr lang="en-US" sz="2000" b="1" dirty="0" smtClean="0"/>
              <a:t> </a:t>
            </a:r>
            <a:r>
              <a:rPr lang="en-US" sz="2000" b="1" dirty="0"/>
              <a:t>AI-Based Decision Making</a:t>
            </a:r>
            <a:r>
              <a:rPr lang="en-US" sz="2000" dirty="0"/>
              <a:t> – Multiple AI agents collaborate autonomously to predict floods, schedule drainage maintenance, coordinate emergency response, and assess damage. </a:t>
            </a:r>
            <a:endParaRPr lang="en-US" sz="2000" dirty="0" smtClean="0"/>
          </a:p>
          <a:p>
            <a:endParaRPr lang="en-US" sz="10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/>
              <a:t>Proactive </a:t>
            </a:r>
            <a:r>
              <a:rPr lang="en-US" sz="2000" b="1" dirty="0"/>
              <a:t>Flood Prediction</a:t>
            </a:r>
            <a:r>
              <a:rPr lang="en-US" sz="2000" dirty="0"/>
              <a:t> – Combines real-time weather forecasts, </a:t>
            </a:r>
            <a:r>
              <a:rPr lang="en-US" sz="2000" dirty="0" err="1"/>
              <a:t>IoT</a:t>
            </a:r>
            <a:r>
              <a:rPr lang="en-US" sz="2000" dirty="0"/>
              <a:t> sensor data, historical flood records, and GIS information to identify flood-prone areas before flooding occurs</a:t>
            </a:r>
            <a:r>
              <a:rPr lang="en-US" sz="2000" dirty="0" smtClean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 smtClean="0"/>
              <a:t>Predictive </a:t>
            </a:r>
            <a:r>
              <a:rPr lang="en-US" sz="2000" b="1" dirty="0"/>
              <a:t>Drainage Maintenance</a:t>
            </a:r>
            <a:r>
              <a:rPr lang="en-US" sz="2000" dirty="0"/>
              <a:t> – Uses AI to prioritize drain cleaning based on blockage probability, reducing urban flooding instead of relying on fixed maintenance schedules.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Citizen-in-the-Loop Intelligence</a:t>
            </a:r>
            <a:r>
              <a:rPr lang="en-US" sz="2000" dirty="0"/>
              <a:t> – Citizens can report flooding with location and images, allowing AI to validate reports and provide real-time situational awareness.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Unified Smart Dashboard</a:t>
            </a:r>
            <a:r>
              <a:rPr lang="en-US" sz="2000" dirty="0"/>
              <a:t> – Integrates flood risk maps, live alerts, maintenance status, and emergency response into a single platform for municipal authorities.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b="1" dirty="0"/>
              <a:t>IBM AI Ecosystem</a:t>
            </a:r>
            <a:r>
              <a:rPr lang="en-US" sz="2000" dirty="0"/>
              <a:t> – Powered by </a:t>
            </a:r>
            <a:r>
              <a:rPr lang="en-US" sz="2000" b="1" dirty="0"/>
              <a:t>IBM </a:t>
            </a:r>
            <a:r>
              <a:rPr lang="en-US" sz="2000" b="1" dirty="0" err="1"/>
              <a:t>watsonx</a:t>
            </a:r>
            <a:r>
              <a:rPr lang="en-US" sz="2000" b="1" dirty="0"/>
              <a:t> Bob</a:t>
            </a:r>
            <a:r>
              <a:rPr lang="en-US" sz="2000" dirty="0"/>
              <a:t>, </a:t>
            </a:r>
            <a:r>
              <a:rPr lang="en-US" sz="2000" b="1" dirty="0"/>
              <a:t>IBM Granite LLM</a:t>
            </a:r>
            <a:r>
              <a:rPr lang="en-US" sz="2000" dirty="0"/>
              <a:t>, and </a:t>
            </a:r>
            <a:r>
              <a:rPr lang="en-US" sz="2000" b="1" dirty="0"/>
              <a:t>IBM Cloud</a:t>
            </a:r>
            <a:r>
              <a:rPr lang="en-US" sz="2000" dirty="0"/>
              <a:t> for intelligent automation, scalable deployment, and real-time decision support.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3252822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4D64937E-C9AD-3FA1-53E2-2ECBF2E49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xmlns="" id="{F71D9F5B-66BF-4840-40E0-2713F56C5E64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>
                <a:sym typeface="Times New Roman"/>
              </a:rPr>
              <a:t>Future Scope 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xmlns="" id="{1231BA06-8686-7E6D-BCEC-6F33D9928770}"/>
              </a:ext>
            </a:extLst>
          </p:cNvPr>
          <p:cNvSpPr/>
          <p:nvPr/>
        </p:nvSpPr>
        <p:spPr>
          <a:xfrm>
            <a:off x="1218724" y="1161332"/>
            <a:ext cx="10590838" cy="5524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err="1"/>
              <a:t>IoT</a:t>
            </a:r>
            <a:r>
              <a:rPr lang="en-US" sz="2000" b="1" dirty="0"/>
              <a:t> Sensor Integration</a:t>
            </a:r>
            <a:r>
              <a:rPr lang="en-US" sz="2000" dirty="0"/>
              <a:t> – Deploy real-time sensors for rainfall, water level, drain blockage, and drainage capacity.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Satellite </a:t>
            </a:r>
            <a:r>
              <a:rPr lang="en-US" sz="2000" b="1" dirty="0"/>
              <a:t>&amp; Drone Monitoring</a:t>
            </a:r>
            <a:r>
              <a:rPr lang="en-US" sz="2000" dirty="0"/>
              <a:t> – Use satellite images and drones to identify flooded areas and damaged infrastructure.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Advanced </a:t>
            </a:r>
            <a:r>
              <a:rPr lang="en-US" sz="2000" b="1" dirty="0"/>
              <a:t>AI Prediction</a:t>
            </a:r>
            <a:r>
              <a:rPr lang="en-US" sz="2000" dirty="0"/>
              <a:t> – Improve flood prediction using real-time weather, historical flood, and drainage data.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Automated </a:t>
            </a:r>
            <a:r>
              <a:rPr lang="en-US" sz="2000" b="1" dirty="0"/>
              <a:t>Drainage Management</a:t>
            </a:r>
            <a:r>
              <a:rPr lang="en-US" sz="2000" dirty="0"/>
              <a:t> – Enable AI to automatically prioritize and schedule drain cleaning and maintenance.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Smart </a:t>
            </a:r>
            <a:r>
              <a:rPr lang="en-US" sz="2000" b="1" dirty="0"/>
              <a:t>Emergency Response</a:t>
            </a:r>
            <a:r>
              <a:rPr lang="en-US" sz="2000" dirty="0"/>
              <a:t> – Integrate with municipal teams, traffic police, ambulances, and disaster-management authorities for faster response.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Citizen </a:t>
            </a:r>
            <a:r>
              <a:rPr lang="en-US" sz="2000" b="1" dirty="0"/>
              <a:t>Mobile App</a:t>
            </a:r>
            <a:r>
              <a:rPr lang="en-US" sz="2000" dirty="0"/>
              <a:t> – Provide multilingual reporting, alerts, safety instructions, and live flood information.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Digital </a:t>
            </a:r>
            <a:r>
              <a:rPr lang="en-US" sz="2000" b="1" dirty="0"/>
              <a:t>Twin of the City</a:t>
            </a:r>
            <a:r>
              <a:rPr lang="en-US" sz="2000" dirty="0"/>
              <a:t> – Create a virtual model of Ahmedabad and Surat to simulate rainfall, drainage flow, and possible flood scenarios. </a:t>
            </a:r>
            <a:endParaRPr lang="en-US" sz="20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endParaRPr lang="en-US" sz="500" dirty="0" smtClean="0"/>
          </a:p>
          <a:p>
            <a:pPr marL="342900" lvl="0" indent="-342900">
              <a:buClr>
                <a:srgbClr val="2B3541"/>
              </a:buClr>
              <a:buSzPts val="1850"/>
              <a:buFont typeface="Arial" panose="020B0604020202020204" pitchFamily="34" charset="0"/>
              <a:buChar char="•"/>
            </a:pPr>
            <a:r>
              <a:rPr lang="en-US" sz="2000" b="1" dirty="0" smtClean="0"/>
              <a:t>Scalable </a:t>
            </a:r>
            <a:r>
              <a:rPr lang="en-US" sz="2000" b="1" dirty="0"/>
              <a:t>Deployment</a:t>
            </a:r>
            <a:r>
              <a:rPr lang="en-US" sz="2000" dirty="0"/>
              <a:t> – Extend the system to other flood-prone cities across Gujarat and India.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738996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>
          <a:extLst>
            <a:ext uri="{FF2B5EF4-FFF2-40B4-BE49-F238E27FC236}">
              <a16:creationId xmlns:a16="http://schemas.microsoft.com/office/drawing/2014/main" xmlns="" id="{7BB3C0CA-2F24-30DF-1D65-4440B864F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8">
            <a:extLst>
              <a:ext uri="{FF2B5EF4-FFF2-40B4-BE49-F238E27FC236}">
                <a16:creationId xmlns:a16="http://schemas.microsoft.com/office/drawing/2014/main" xmlns="" id="{187EEB9C-2E84-113A-3CE6-1507BF5B039F}"/>
              </a:ext>
            </a:extLst>
          </p:cNvPr>
          <p:cNvSpPr/>
          <p:nvPr/>
        </p:nvSpPr>
        <p:spPr>
          <a:xfrm>
            <a:off x="1218724" y="420729"/>
            <a:ext cx="6444496" cy="7040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57142"/>
              </a:lnSpc>
              <a:spcBef>
                <a:spcPts val="0"/>
              </a:spcBef>
              <a:spcAft>
                <a:spcPts val="0"/>
              </a:spcAft>
              <a:buClr>
                <a:srgbClr val="051D3A"/>
              </a:buClr>
              <a:buSzPts val="3500"/>
              <a:buFont typeface="Times New Roman"/>
              <a:buNone/>
            </a:pPr>
            <a:r>
              <a:rPr lang="en-US" sz="2800" b="1" dirty="0" err="1">
                <a:sym typeface="Times New Roman"/>
              </a:rPr>
              <a:t>Git</a:t>
            </a:r>
            <a:r>
              <a:rPr lang="en-US" sz="2800" b="1" dirty="0">
                <a:sym typeface="Times New Roman"/>
              </a:rPr>
              <a:t> Hub Link</a:t>
            </a:r>
            <a:endParaRPr sz="2800" b="1" dirty="0">
              <a:sym typeface="Times New Roman"/>
            </a:endParaRPr>
          </a:p>
        </p:txBody>
      </p:sp>
      <p:sp>
        <p:nvSpPr>
          <p:cNvPr id="279" name="Google Shape;279;p18">
            <a:extLst>
              <a:ext uri="{FF2B5EF4-FFF2-40B4-BE49-F238E27FC236}">
                <a16:creationId xmlns:a16="http://schemas.microsoft.com/office/drawing/2014/main" xmlns="" id="{3711AF54-94A6-B837-31EF-9A8C4ECB9AF6}"/>
              </a:ext>
            </a:extLst>
          </p:cNvPr>
          <p:cNvSpPr/>
          <p:nvPr/>
        </p:nvSpPr>
        <p:spPr>
          <a:xfrm>
            <a:off x="1218724" y="1153712"/>
            <a:ext cx="9214580" cy="4277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lnSpc>
                <a:spcPct val="162162"/>
              </a:lnSpc>
              <a:buClr>
                <a:srgbClr val="2B3541"/>
              </a:buClr>
              <a:buSzPts val="1850"/>
            </a:pPr>
            <a:r>
              <a:rPr lang="en-US" sz="2000" dirty="0" err="1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Github</a:t>
            </a:r>
            <a:r>
              <a:rPr lang="en-US" sz="2000" dirty="0" smtClean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URL - https</a:t>
            </a:r>
            <a:r>
              <a:rPr lang="en-US" sz="2000" dirty="0">
                <a:solidFill>
                  <a:srgbClr val="2B354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://github.com/prvaishnav2006-hub/Smart-Urban-Flooding-Drainage-Management-System.git</a:t>
            </a:r>
            <a:endParaRPr sz="2000" b="0" i="0" u="none" strike="noStrike" cap="none" dirty="0"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404122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E4AB062-BFE8-81E7-7937-7FF058CAE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6244D29-5E1E-8A40-F4D0-25314C4B7361}"/>
              </a:ext>
            </a:extLst>
          </p:cNvPr>
          <p:cNvSpPr txBox="1"/>
          <p:nvPr/>
        </p:nvSpPr>
        <p:spPr>
          <a:xfrm>
            <a:off x="327949" y="207380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Certificates Earned:</a:t>
            </a:r>
          </a:p>
          <a:p>
            <a:pPr algn="ctr"/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914" y="1553832"/>
            <a:ext cx="5699790" cy="440875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8921" y="1553833"/>
            <a:ext cx="5433222" cy="436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804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A8544A9-CF92-3FAF-D3EE-31DF90F7A64D}"/>
              </a:ext>
            </a:extLst>
          </p:cNvPr>
          <p:cNvSpPr txBox="1"/>
          <p:nvPr/>
        </p:nvSpPr>
        <p:spPr>
          <a:xfrm>
            <a:off x="176696" y="226391"/>
            <a:ext cx="6096000" cy="67710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i="0" u="none" strike="noStrike" baseline="0">
                <a:solidFill>
                  <a:srgbClr val="000000"/>
                </a:solidFill>
                <a:latin typeface="Arial"/>
              </a:rPr>
              <a:t>Certificates Earned:</a:t>
            </a: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​</a:t>
            </a:r>
            <a:endParaRPr lang="en-US"/>
          </a:p>
          <a:p>
            <a:pPr algn="ctr"/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7891" y="684581"/>
            <a:ext cx="4926305" cy="306593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707" y="3750517"/>
            <a:ext cx="10058400" cy="281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1777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2190302"/>
            <a:ext cx="12192000" cy="24773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401373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844</Words>
  <Application>Microsoft Office PowerPoint</Application>
  <PresentationFormat>Widescreen</PresentationFormat>
  <Paragraphs>119</Paragraphs>
  <Slides>22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Times New Roman</vt:lpstr>
      <vt:lpstr>Office Theme</vt:lpstr>
      <vt:lpstr>IBM SkillsBuild Bob Hackathon Showcase – Gujarat, 2026  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Manda Anirudh</dc:creator>
  <cp:lastModifiedBy>SAINATH</cp:lastModifiedBy>
  <cp:revision>23</cp:revision>
  <dcterms:created xsi:type="dcterms:W3CDTF">2025-07-08T05:06:56Z</dcterms:created>
  <dcterms:modified xsi:type="dcterms:W3CDTF">2026-09-12T13:29:21Z</dcterms:modified>
</cp:coreProperties>
</file>